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899350" cy="43562588"/>
  <p:notesSz cx="6867525" cy="99933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67080" y="13531680"/>
            <a:ext cx="27965160" cy="933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EBA4CF01-F28B-4D2B-885C-D41CA4AA2290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67080" y="3871800"/>
            <a:ext cx="27965160" cy="726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467080" y="12584160"/>
            <a:ext cx="27965160" cy="2613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 vert="eaVert">
            <a:noAutofit/>
          </a:bodyPr>
          <a:lstStyle>
            <a:lvl1pPr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  <a:def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  <a:def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  <a:def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15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1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1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DEAF987A-FC3F-404C-9CC3-F89002322D1F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3441040" y="3871800"/>
            <a:ext cx="6990840" cy="34850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 vert="eaVert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467080" y="3871800"/>
            <a:ext cx="20821320" cy="34850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 vert="eaVert">
            <a:noAutofit/>
          </a:bodyPr>
          <a:lstStyle>
            <a:lvl1pPr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  <a:def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  <a:def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  <a:def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15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1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1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AFC5E916-F546-4EA0-B454-EB9DC1E39E33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467080" y="3871800"/>
            <a:ext cx="27965160" cy="726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467080" y="12584160"/>
            <a:ext cx="27965160" cy="2613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  <a:def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  <a:def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  <a:def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  <a:def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30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53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15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26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3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1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22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1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1919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3765D5AB-1206-4852-92E1-237D3855D5F9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598840" y="27992520"/>
            <a:ext cx="27963360" cy="8651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 defTabSz="4368960">
              <a:lnSpc>
                <a:spcPct val="100000"/>
              </a:lnSpc>
              <a:buNone/>
              <a:defRPr lang="fr-FR" sz="4000" b="1" u="none" strike="noStrike" cap="all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buNone/>
            </a:pPr>
            <a:r>
              <a:rPr lang="fr-FR" sz="4000" b="1" u="none" strike="noStrike" cap="all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4000" b="1" u="none" strike="noStrike" cap="all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598840" y="18464040"/>
            <a:ext cx="27963360" cy="9527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b">
            <a:noAutofit/>
          </a:bodyPr>
          <a:lstStyle>
            <a:lvl1pPr indent="0" algn="l" defTabSz="43689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A494828D-5800-4504-A98B-B6F9F6F0DDCA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67080" y="3871800"/>
            <a:ext cx="27965160" cy="726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67080" y="12584160"/>
            <a:ext cx="13906080" cy="2613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525800" y="12584160"/>
            <a:ext cx="13906080" cy="2613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E048F2D2-6E94-4D1D-8084-5D1314DE3716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644480" y="1744560"/>
            <a:ext cx="29609640" cy="725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644480" y="9750600"/>
            <a:ext cx="14536440" cy="406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b">
            <a:noAutofit/>
          </a:bodyPr>
          <a:lstStyle>
            <a:lvl1pPr indent="0" algn="l" defTabSz="43689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644480" y="13814280"/>
            <a:ext cx="14536440" cy="25099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6713360" y="9750600"/>
            <a:ext cx="14541120" cy="406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b">
            <a:noAutofit/>
          </a:bodyPr>
          <a:lstStyle>
            <a:lvl1pPr indent="0" algn="l" defTabSz="43689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16713360" y="13814280"/>
            <a:ext cx="14541120" cy="25099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A0CF56D2-F513-41C3-8200-2579BE913126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467080" y="3871800"/>
            <a:ext cx="27965160" cy="726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ctr">
            <a:noAutofit/>
          </a:bodyPr>
          <a:lstStyle>
            <a:lvl1pPr indent="0" algn="ctr" defTabSz="4368960">
              <a:lnSpc>
                <a:spcPct val="100000"/>
              </a:lnSpc>
              <a:buNone/>
              <a:def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ctr" defTabSz="4368960">
              <a:lnSpc>
                <a:spcPct val="100000"/>
              </a:lnSpc>
              <a:buNone/>
            </a:pPr>
            <a:r>
              <a:rPr lang="fr-FR" sz="2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1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7BDA4A63-5592-4E8D-A230-B73D372AABEE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8217A918-6084-47E7-BD01-E278341DA674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44480" y="1735200"/>
            <a:ext cx="10823040" cy="738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b">
            <a:noAutofit/>
          </a:bodyPr>
          <a:lstStyle>
            <a:lvl1pPr indent="0" algn="l" defTabSz="4368960">
              <a:lnSpc>
                <a:spcPct val="100000"/>
              </a:lnSpc>
              <a:buNone/>
              <a:defRPr lang="fr-FR" sz="2000" b="1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000" b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2863520" y="1735200"/>
            <a:ext cx="18390960" cy="3717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algn="l" defTabSz="43689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lvl="1"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  <a:lvl3pPr lvl="2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3pPr>
            <a:lvl4pPr lvl="3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4pPr>
            <a:lvl5pPr lvl="4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5pPr>
          </a:lstStyle>
          <a:p>
            <a:pPr marL="1638360" indent="-1638360" algn="l" defTabSz="43689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549600" lvl="1" indent="-1365120" algn="l" defTabSz="4368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Deuxième niveau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60840" lvl="2" indent="-1092240" algn="l" defTabSz="43689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Troisième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645320" lvl="3" indent="-109224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Quatrième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831240" lvl="4" indent="-1093680" algn="l" defTabSz="43689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Cinquième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1644480" y="9115560"/>
            <a:ext cx="10823040" cy="2979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 defTabSz="436896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DACB2292-884E-42B8-99E6-3FE784D680B4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48320" y="30494160"/>
            <a:ext cx="19738440" cy="3598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b">
            <a:noAutofit/>
          </a:bodyPr>
          <a:lstStyle>
            <a:lvl1pPr indent="0" algn="l" defTabSz="4368960">
              <a:lnSpc>
                <a:spcPct val="100000"/>
              </a:lnSpc>
              <a:buNone/>
              <a:defRPr lang="fr-FR" sz="2000" b="1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Cliquez pour modifier le style du titre</a:t>
            </a:r>
            <a:endParaRPr lang="fr-FR" sz="2000" b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448320" y="3892680"/>
            <a:ext cx="19738440" cy="2613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36896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3689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3689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3689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 defTabSz="436896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43689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43689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43689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algn="l" defTabSz="43689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448320" y="34093080"/>
            <a:ext cx="19738440" cy="5113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 defTabSz="436896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436896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Cliquez pour modifier les styles du texte du masque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24670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11241000" y="39690720"/>
            <a:ext cx="1041696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23577480" y="39690720"/>
            <a:ext cx="6854400" cy="290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37040" tIns="218520" rIns="437040" bIns="218520" anchor="t">
            <a:noAutofit/>
          </a:bodyPr>
          <a:lstStyle>
            <a:lvl1pPr indent="0" algn="r" defTabSz="4368960">
              <a:lnSpc>
                <a:spcPct val="100000"/>
              </a:lnSpc>
              <a:buNone/>
              <a:def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r" defTabSz="4368960">
              <a:lnSpc>
                <a:spcPct val="100000"/>
              </a:lnSpc>
              <a:buNone/>
            </a:pPr>
            <a:fld id="{D59459F5-2E72-493A-88D7-F7A1791E7C30}" type="slidenum"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lang="en-US" sz="6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2"/>
          <p:cNvPicPr/>
          <p:nvPr/>
        </p:nvPicPr>
        <p:blipFill>
          <a:blip r:embed="rId1"/>
          <a:stretch/>
        </p:blipFill>
        <p:spPr>
          <a:xfrm>
            <a:off x="1256040" y="-37080"/>
            <a:ext cx="31679280" cy="421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Zone de texte 11"/>
          <p:cNvSpPr/>
          <p:nvPr/>
        </p:nvSpPr>
        <p:spPr>
          <a:xfrm>
            <a:off x="1339560" y="42879600"/>
            <a:ext cx="315961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fr-FR" sz="1900" b="0" u="none" strike="noStrike">
                <a:solidFill>
                  <a:schemeClr val="dk1"/>
                </a:solidFill>
                <a:effectLst/>
                <a:uFillTx/>
                <a:latin typeface="Cabinet Grotesk"/>
                <a:ea typeface="ＭＳ Ｐゴシック"/>
              </a:rPr>
              <a:t>© Toute reproduction, même partielle, doit indiquer clairement le nom de tous les auteurs, le nom du Département, ainsi que la mention « Printemps des Sciences 2026 – Exposition des Sciences – Bruxelles »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ZoneTexte 12"/>
          <p:cNvSpPr/>
          <p:nvPr/>
        </p:nvSpPr>
        <p:spPr>
          <a:xfrm>
            <a:off x="3043080" y="7733880"/>
            <a:ext cx="8682480" cy="158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50000"/>
              </a:lnSpc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ＭＳ Ｐゴシック"/>
              </a:rPr>
              <a:t>Introduction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>
              <a:lnSpc>
                <a:spcPct val="150000"/>
              </a:lnSpc>
            </a:pPr>
            <a:r>
              <a:rPr lang="fr-FR" sz="40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ＭＳ Ｐゴシック"/>
              </a:rPr>
              <a:t>Pourquoi  généré des terrains aléatoires en 3D?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rgbClr val="292355"/>
                </a:solidFill>
                <a:effectLst/>
                <a:uFillTx/>
                <a:latin typeface="Cabinet Grotesk Variable"/>
                <a:ea typeface="ＭＳ Ｐゴシック"/>
              </a:rPr>
              <a:t>Dans les jeux vidéo, on trouve souvent des paysages naturels dans lesquels le joueur peut se déplacer librement, parfois même dans des mondes pseudo-infinis.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rgbClr val="292355"/>
                </a:solidFill>
                <a:effectLst/>
                <a:uFillTx/>
                <a:latin typeface="Cabinet Grotesk Variable"/>
                <a:ea typeface="ＭＳ Ｐゴシック"/>
              </a:rPr>
              <a:t>Créer manuellement chaque montagne, ou chaque rivière avec un rendu général réaliste, serait extrêmement long et complexe.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rgbClr val="292355"/>
                </a:solidFill>
                <a:effectLst/>
                <a:uFillTx/>
                <a:latin typeface="Cabinet Grotesk Variable"/>
                <a:ea typeface="ＭＳ Ｐゴシック"/>
              </a:rPr>
              <a:t>Il est donc nécessaire d’utiliser des méthodes plus rapides et efficaces, c’est-à-dire des algorithmes capables de générer automatiquement des terrains réalistes.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rgbClr val="292355"/>
                </a:solidFill>
                <a:effectLst/>
                <a:uFillTx/>
                <a:latin typeface="Cabinet Grotesk Variable"/>
                <a:ea typeface="ＭＳ Ｐゴシック"/>
              </a:rPr>
              <a:t>L’objectif de ce projet est d’étudier deux méthodes algorithmes ,  le bruit de Perlin et les courbes de Bézier,  permettant de en paysages aléatoires, naturels et réaliste.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sp>
        <p:nvSpPr>
          <p:cNvPr id="62" name="Zone de texte 40"/>
          <p:cNvSpPr/>
          <p:nvPr/>
        </p:nvSpPr>
        <p:spPr>
          <a:xfrm>
            <a:off x="10545120" y="-27000"/>
            <a:ext cx="14473080" cy="4331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spcAft>
                <a:spcPts val="1199"/>
              </a:spcAft>
            </a:pPr>
            <a:r>
              <a:rPr lang="fr-FR" sz="8000" b="1" u="none" strike="noStrike">
                <a:solidFill>
                  <a:schemeClr val="lt1"/>
                </a:solidFill>
                <a:effectLst/>
                <a:uFillTx/>
                <a:latin typeface="Cabinet Grotesk Variable"/>
                <a:ea typeface="ＭＳ Ｐゴシック"/>
              </a:rPr>
              <a:t>Comment générer des terrains aléatoires en 3D?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sp>
        <p:nvSpPr>
          <p:cNvPr id="63" name="ZoneTexte 12"/>
          <p:cNvSpPr/>
          <p:nvPr/>
        </p:nvSpPr>
        <p:spPr>
          <a:xfrm>
            <a:off x="12595320" y="7733880"/>
            <a:ext cx="18516600" cy="27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50000"/>
              </a:lnSpc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ＭＳ Ｐゴシック"/>
              </a:rPr>
              <a:t>Vue d'ensemble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>
              <a:lnSpc>
                <a:spcPct val="150000"/>
              </a:lnSpc>
            </a:pPr>
            <a:r>
              <a:rPr lang="fr-FR" sz="40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ＭＳ Ｐゴシック"/>
              </a:rPr>
              <a:t>Comment utilisé des algorithmes pour générér des terrains?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sp>
        <p:nvSpPr>
          <p:cNvPr id="64" name="Zone de texte 40"/>
          <p:cNvSpPr/>
          <p:nvPr/>
        </p:nvSpPr>
        <p:spPr>
          <a:xfrm>
            <a:off x="2645280" y="4885920"/>
            <a:ext cx="29282400" cy="2880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spcAft>
                <a:spcPts val="1199"/>
              </a:spcAft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ＭＳ Ｐゴシック"/>
              </a:rPr>
              <a:t>UNIVERSITÉ LIBRE DE BRUXELLES – FACULTÉ DES SCIENCES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ctr">
              <a:lnSpc>
                <a:spcPct val="100000"/>
              </a:lnSpc>
              <a:spcAft>
                <a:spcPts val="1199"/>
              </a:spcAft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ＭＳ Ｐゴシック"/>
              </a:rPr>
              <a:t>DÉPARTEMENT D'INFORMATIQUE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ctr">
              <a:lnSpc>
                <a:spcPct val="100000"/>
              </a:lnSpc>
            </a:pPr>
            <a:r>
              <a:rPr lang="fr-FR" sz="36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ＭＳ Ｐゴシック"/>
              </a:rPr>
              <a:t>Belinda Oznur, Raphaël Brichet, Phillipe Brisbois, Alessandro Dorigo et Rares-Mihai Bors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sp>
        <p:nvSpPr>
          <p:cNvPr id="65" name="ZoneTexte 1"/>
          <p:cNvSpPr/>
          <p:nvPr/>
        </p:nvSpPr>
        <p:spPr>
          <a:xfrm rot="16200000">
            <a:off x="-21218760" y="21080160"/>
            <a:ext cx="43628040" cy="1414800"/>
          </a:xfrm>
          <a:prstGeom prst="rect">
            <a:avLst/>
          </a:prstGeom>
          <a:solidFill>
            <a:srgbClr val="6C50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Aft>
                <a:spcPts val="1800"/>
              </a:spcAft>
              <a:tabLst>
                <a:tab pos="30853080" algn="l"/>
              </a:tabLst>
            </a:pPr>
            <a:r>
              <a:rPr lang="fr-FR" sz="6600" b="1" u="none" strike="noStrike">
                <a:solidFill>
                  <a:schemeClr val="accent3"/>
                </a:solidFill>
                <a:effectLst/>
                <a:uFillTx/>
                <a:latin typeface="Cabinet Grotesk"/>
                <a:ea typeface="ＭＳ Ｐゴシック"/>
              </a:rPr>
              <a:t>UNIVERSITÉ LIBRE DE BRUXELLES</a:t>
            </a:r>
            <a:r>
              <a:rPr lang="fr-FR" sz="6600" b="0" u="none" strike="noStrike">
                <a:solidFill>
                  <a:schemeClr val="accent3"/>
                </a:solidFill>
                <a:effectLst/>
                <a:uFillTx/>
                <a:latin typeface="Cabinet Grotesk"/>
                <a:ea typeface="ＭＳ Ｐゴシック"/>
              </a:rPr>
              <a:t> – </a:t>
            </a:r>
            <a:r>
              <a:rPr lang="fr-FR" sz="6600" b="1" u="none" strike="noStrike">
                <a:solidFill>
                  <a:schemeClr val="accent3"/>
                </a:solidFill>
                <a:effectLst/>
                <a:uFillTx/>
                <a:latin typeface="Cabinet Grotesk"/>
                <a:ea typeface="ＭＳ Ｐゴシック"/>
              </a:rPr>
              <a:t>FACULTÉ DES SCIENCES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6" descr="Une image contenant motif, tissu, monochrome&#10;&#10;Le contenu généré par l’IA peut être incorrect."/>
          <p:cNvPicPr/>
          <p:nvPr/>
        </p:nvPicPr>
        <p:blipFill>
          <a:blip r:embed="rId2"/>
          <a:stretch/>
        </p:blipFill>
        <p:spPr>
          <a:xfrm>
            <a:off x="20073600" y="11089440"/>
            <a:ext cx="3630960" cy="38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Flèche : droite 8"/>
          <p:cNvSpPr/>
          <p:nvPr/>
        </p:nvSpPr>
        <p:spPr>
          <a:xfrm>
            <a:off x="23929200" y="12466440"/>
            <a:ext cx="2105640" cy="749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9" descr="Une image contenant diagramme, ligne, origami&#10;&#10;Le contenu généré par l’IA peut être incorrect."/>
          <p:cNvPicPr/>
          <p:nvPr/>
        </p:nvPicPr>
        <p:blipFill>
          <a:blip r:embed="rId3"/>
          <a:stretch/>
        </p:blipFill>
        <p:spPr>
          <a:xfrm>
            <a:off x="12681360" y="10904400"/>
            <a:ext cx="4554000" cy="424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Flèche : droite 10"/>
          <p:cNvSpPr/>
          <p:nvPr/>
        </p:nvSpPr>
        <p:spPr>
          <a:xfrm>
            <a:off x="17752320" y="12466440"/>
            <a:ext cx="2238480" cy="88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4" descr="Une image contenant ciel, nature, plante, paysage&#10;&#10;Le contenu généré par l’IA peut être incorrect."/>
          <p:cNvPicPr/>
          <p:nvPr/>
        </p:nvPicPr>
        <p:blipFill>
          <a:blip r:embed="rId4"/>
          <a:stretch/>
        </p:blipFill>
        <p:spPr>
          <a:xfrm>
            <a:off x="26632440" y="11121120"/>
            <a:ext cx="4507200" cy="394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Flèche : virage 15"/>
          <p:cNvSpPr/>
          <p:nvPr/>
        </p:nvSpPr>
        <p:spPr>
          <a:xfrm rot="10800000">
            <a:off x="20971080" y="17854200"/>
            <a:ext cx="9568800" cy="338796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18"/>
          <p:cNvPicPr/>
          <p:nvPr/>
        </p:nvPicPr>
        <p:blipFill>
          <a:blip r:embed="rId5"/>
          <a:stretch/>
        </p:blipFill>
        <p:spPr>
          <a:xfrm>
            <a:off x="13200480" y="17290080"/>
            <a:ext cx="6235560" cy="493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ZoneTexte 19"/>
          <p:cNvSpPr/>
          <p:nvPr/>
        </p:nvSpPr>
        <p:spPr>
          <a:xfrm>
            <a:off x="2720160" y="23306040"/>
            <a:ext cx="12801240" cy="152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>
              <a:lnSpc>
                <a:spcPct val="100000"/>
              </a:lnSpc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Segoe UI"/>
              </a:rPr>
              <a:t>Le programme en détails</a:t>
            </a: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>
              <a:lnSpc>
                <a:spcPct val="100000"/>
              </a:lnSpc>
            </a:pPr>
            <a:r>
              <a:rPr lang="fr-FR" sz="40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Segoe UI"/>
              </a:rPr>
              <a:t>Titre 2</a:t>
            </a: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ＭＳ Ｐゴシック"/>
              </a:rPr>
              <a:t>Blabalbalbalblabalbalablabafzethfgdfsdfqeregtrhyngcfvseqfretrhytjg,nvcbfsfrgthyjhgnvbcfrgthyjg,nbv bcfrgthyjhgnvbcfsrgthyjg,bn bcbfgrthgnvb 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sp>
        <p:nvSpPr>
          <p:cNvPr id="74" name="ZoneTexte 22"/>
          <p:cNvSpPr/>
          <p:nvPr/>
        </p:nvSpPr>
        <p:spPr>
          <a:xfrm>
            <a:off x="16316280" y="23306040"/>
            <a:ext cx="14790960" cy="145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>
              <a:lnSpc>
                <a:spcPct val="100000"/>
              </a:lnSpc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>
              <a:lnSpc>
                <a:spcPct val="100000"/>
              </a:lnSpc>
            </a:pPr>
            <a:r>
              <a:rPr lang="fr-FR" sz="40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Segoe UI"/>
              </a:rPr>
              <a:t>Utilisation de l'aléatoire et de la génération de terrain</a:t>
            </a: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La génération de terrain est utiliser dans des domaines comme le jeux vidéo ou encore le cinéma (ex. Tron mais à checker)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 bcfrgthyjhgnvbcfsrgthyjg,bn bcbfgrthgnvb c​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  <p:cxnSp>
        <p:nvCxnSpPr>
          <p:cNvPr id="75" name="Connecteur droit avec flèche 23"/>
          <p:cNvCxnSpPr/>
          <p:nvPr/>
        </p:nvCxnSpPr>
        <p:spPr>
          <a:xfrm flipH="1">
            <a:off x="15876000" y="23277600"/>
            <a:ext cx="81000" cy="1477260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6" name="ZoneTexte 24"/>
          <p:cNvSpPr/>
          <p:nvPr/>
        </p:nvSpPr>
        <p:spPr>
          <a:xfrm>
            <a:off x="2720160" y="38024280"/>
            <a:ext cx="287200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>
              <a:lnSpc>
                <a:spcPct val="100000"/>
              </a:lnSpc>
            </a:pPr>
            <a:r>
              <a:rPr lang="fr-FR" sz="4800" b="1" u="none" strike="noStrike">
                <a:solidFill>
                  <a:srgbClr val="37AB51"/>
                </a:solidFill>
                <a:effectLst/>
                <a:uFillTx/>
                <a:latin typeface="Cabinet Grotesk Variable"/>
                <a:ea typeface="Segoe UI"/>
              </a:rPr>
              <a:t>Conclusion</a:t>
            </a: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>
              <a:lnSpc>
                <a:spcPct val="100000"/>
              </a:lnSpc>
            </a:pPr>
            <a:r>
              <a:rPr lang="fr-FR" sz="4000" b="1" i="1" u="none" strike="noStrike">
                <a:solidFill>
                  <a:srgbClr val="E94370"/>
                </a:solidFill>
                <a:effectLst/>
                <a:uFillTx/>
                <a:latin typeface="Cabinet Grotesk Variable"/>
                <a:ea typeface="Segoe UI"/>
              </a:rPr>
              <a:t>Titre 2</a:t>
            </a: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Blabalbalbalblabalbalablabafzethfgdfsdfqeregtrhyngcfvseqfretrhytjg,nvcbfsfrgthyjhgnvbcfrgthyjg,nbvefehfdgrfdgthygngbgdthyn bcfrgthyjhgnvbcfsrgthyjg,bn bcbfgrthgnvb cfgsrdtgnfgdbsfesgthyg,jhgbfvqdefrgthygvcfxvdefsgrthg,jnvbcxfvdfeqgthfnnv bcxvdefsgqfesgrdfh,vcbxfvwdfsgrdhtfjhgj;k;k,jhngbgfsfqdedsfghjkjl;kj,hngfdsdsfdgfhgujklkhjhfgdfdsfgfhjikjlkjjhuftgdrsefdsfghjkj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just">
              <a:lnSpc>
                <a:spcPct val="100000"/>
              </a:lnSpc>
            </a:pPr>
            <a:r>
              <a:rPr lang="fr-BE" sz="4000" b="0" u="none" strike="noStrike">
                <a:solidFill>
                  <a:schemeClr val="dk1"/>
                </a:solidFill>
                <a:effectLst/>
                <a:uFillTx/>
                <a:latin typeface="Cabinet Grotesk Variable"/>
                <a:ea typeface="Segoe UI"/>
              </a:rPr>
              <a:t>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binet Grotesk Variabl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ouvelle présentation">
      <a:majorFont>
        <a:latin typeface="Arial" pitchFamily="0" charset="1"/>
        <a:ea typeface="ＭＳ Ｐゴシック" pitchFamily="0" charset="1"/>
        <a:cs typeface=""/>
      </a:majorFont>
      <a:minorFont>
        <a:latin typeface="Arial" pitchFamily="0" charset="1"/>
        <a:ea typeface="ＭＳ Ｐゴシック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LibreOffice/26.2.1.2$Linux_X86_64 LibreOffice_project/620$Build-2</Application>
  <AppVersion>15.0000</AppVersion>
  <Company>Elvira/Puttevils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2005-02-24T09:50:45Z</dcterms:created>
  <dc:creator>Inforsciences</dc:creator>
  <dc:description/>
  <dc:language>en-US</dc:language>
  <cp:lastModifiedBy/>
  <cp:lastPrinted>2013-02-08T09:18:21Z</cp:lastPrinted>
  <dcterms:modified xsi:type="dcterms:W3CDTF">2026-03-11T17:29:21Z</dcterms:modified>
  <cp:revision>28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Personnalisé</vt:lpwstr>
  </property>
  <property fmtid="{D5CDD505-2E9C-101B-9397-08002B2CF9AE}" pid="4" name="Slides">
    <vt:i4>1</vt:i4>
  </property>
</Properties>
</file>